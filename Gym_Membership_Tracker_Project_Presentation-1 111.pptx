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914400"/>
            <a:ext cx="1097280" cy="1097280"/>
          </a:xfrm>
          <a:prstGeom prst="ellipse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1828800"/>
            <a:ext cx="685800" cy="685800"/>
          </a:xfrm>
          <a:prstGeom prst="ellipse">
            <a:avLst/>
          </a:prstGeom>
          <a:solidFill>
            <a:srgbClr val="5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69880" y="731520"/>
            <a:ext cx="384048" cy="38404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0" y="3017520"/>
            <a:ext cx="1554480" cy="1554480"/>
          </a:xfrm>
          <a:prstGeom prst="ellipse">
            <a:avLst/>
          </a:prstGeom>
          <a:solidFill>
            <a:srgbClr val="1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0" y="4297680"/>
            <a:ext cx="822960" cy="822960"/>
          </a:xfrm>
          <a:prstGeom prst="ellipse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85800"/>
            <a:ext cx="6766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9D3BE"/>
                </a:solidFill>
                <a:latin typeface="Aptos"/>
              </a:rPr>
              <a:t>PROJECT SUBMISSION • DBMS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6858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400" b="1">
                <a:solidFill>
                  <a:srgbClr val="F2F6FA"/>
                </a:solidFill>
                <a:latin typeface="Aptos"/>
              </a:rPr>
              <a:t>GYM MEMBERSHIP
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46120"/>
            <a:ext cx="6217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0">
                <a:solidFill>
                  <a:srgbClr val="ACBBCA"/>
                </a:solidFill>
                <a:latin typeface="Aptos"/>
              </a:rPr>
              <a:t>A relational database solution for gym administration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133087"/>
            <a:ext cx="6172200" cy="18288"/>
          </a:xfrm>
          <a:prstGeom prst="rect">
            <a:avLst/>
          </a:prstGeom>
          <a:solidFill>
            <a:srgbClr val="1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4370832"/>
            <a:ext cx="63093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2F6FA"/>
                </a:solidFill>
                <a:latin typeface="Aptos"/>
              </a:rPr>
              <a:t>Patel Parth (26D2DIT001)
Shivam Desai (26D2DIT015)
Maulin Vaniya (26D2DIT0012)  •  Jaimit Patel (26D2DIT007)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989320"/>
            <a:ext cx="6035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ACBBCA"/>
                </a:solidFill>
                <a:latin typeface="Aptos"/>
              </a:rPr>
              <a:t>INFORMATION TECHNOLOGY  |  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What the Gym Membership Tracker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7548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>
                <a:solidFill>
                  <a:srgbClr val="F2F6FA"/>
                </a:solidFill>
                <a:latin typeface="Aptos"/>
              </a:rPr>
              <a:t>One organized place for the gym’s core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45720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0">
                <a:solidFill>
                  <a:srgbClr val="ACBBCA"/>
                </a:solidFill>
                <a:latin typeface="Aptos"/>
              </a:rPr>
              <a:t>The proposed system centralizes member profiles, membership plans, trainer assignments and payment history in a relational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691640"/>
            <a:ext cx="2560320" cy="15087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0" y="1691640"/>
            <a:ext cx="64008" cy="150876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16168" y="1856232"/>
            <a:ext cx="2194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2F6FA"/>
                </a:solidFill>
                <a:latin typeface="Aptos"/>
              </a:rPr>
              <a:t>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258568"/>
            <a:ext cx="219456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ACBBCA"/>
                </a:solidFill>
                <a:latin typeface="Aptos"/>
              </a:rPr>
              <a:t>Profiles, contact details and membership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691640"/>
            <a:ext cx="2560320" cy="15087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03920" y="1691640"/>
            <a:ext cx="64008" cy="1508760"/>
          </a:xfrm>
          <a:prstGeom prst="rect">
            <a:avLst/>
          </a:prstGeom>
          <a:solidFill>
            <a:srgbClr val="5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05088" y="1856232"/>
            <a:ext cx="2194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2F6FA"/>
                </a:solidFill>
                <a:latin typeface="Aptos"/>
              </a:rPr>
              <a:t>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258568"/>
            <a:ext cx="219456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ACBBCA"/>
                </a:solidFill>
                <a:latin typeface="Aptos"/>
              </a:rPr>
              <a:t>Duration, price and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474720"/>
            <a:ext cx="2560320" cy="15087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0" y="3474720"/>
            <a:ext cx="64008" cy="15087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16168" y="3639312"/>
            <a:ext cx="2194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2F6FA"/>
                </a:solidFill>
                <a:latin typeface="Aptos"/>
              </a:rPr>
              <a:t>TRAINERS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4041648"/>
            <a:ext cx="219456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ACBBCA"/>
                </a:solidFill>
                <a:latin typeface="Aptos"/>
              </a:rPr>
              <a:t>Profiles and member assignments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74720"/>
            <a:ext cx="2560320" cy="15087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03920" y="3474720"/>
            <a:ext cx="64008" cy="150876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05088" y="3639312"/>
            <a:ext cx="2194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F2F6FA"/>
                </a:solidFill>
                <a:latin typeface="Aptos"/>
              </a:rPr>
              <a:t>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041648"/>
            <a:ext cx="2194560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ACBBCA"/>
                </a:solidFill>
                <a:latin typeface="Aptos"/>
              </a:rPr>
              <a:t>Transactions, methods and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07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9D3BE"/>
                </a:solidFill>
                <a:latin typeface="Aptos"/>
              </a:rPr>
              <a:t>Focus: routine front-desk operations and useful management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Why a structured system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420624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42062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8463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846320" cy="3520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ACBBCA"/>
                </a:solidFill>
                <a:latin typeface="Aptos"/>
              </a:rPr>
              <a:t>Manual registers and scattered spreadsheets can cause:
• Duplicate member records
• Missed membership renewals
• Inconsistent payment information
• Slow searches and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20624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420624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463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46320" cy="3520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ACBBCA"/>
                </a:solidFill>
                <a:latin typeface="Aptos"/>
              </a:rPr>
              <a:t>• Keep member records searchable and unique
• Manage plans and trainer assignments
• Identify active, expired and expiring memberships
• Maintain payment history
• Generate collection and operational reports
• Improve consistency using keys and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Scope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Included capabilities and current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429768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8920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89204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ACBBCA"/>
                </a:solidFill>
                <a:latin typeface="Aptos"/>
              </a:rPr>
              <a:t>✓ Register, view, search and update members
✓ Manage plans and trainers
✓ Track membership start/end dates
✓ Record and review payments
✓ Reports for expiry and collections
✓ Basic validation and duplicate prevention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429768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920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OUT OF SCOPE FOR VERSION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9204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ACBBCA"/>
                </a:solidFill>
                <a:latin typeface="Aptos"/>
              </a:rPr>
              <a:t>× Online payment gateway processing
× Automatic SMS/email notifications
× Attendance scanning or biometric access
× Payroll, inventory and workout scheduling
These can be considered for future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Database Design &amp;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Four principal entities connected through primary and foreign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1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1874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5399FF"/>
                </a:solidFill>
                <a:latin typeface="Aptos"/>
              </a:rPr>
              <a:t>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32888"/>
            <a:ext cx="1874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2F6FA"/>
                </a:solidFill>
                <a:latin typeface="Aptos"/>
              </a:rPr>
              <a:t>Plan_ID (PK)
Plan_Name • Price
Duration_Months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05740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1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167128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39D3BE"/>
                </a:solidFill>
                <a:latin typeface="Aptos"/>
              </a:rPr>
              <a:t>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532888"/>
            <a:ext cx="2057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2F6FA"/>
                </a:solidFill>
                <a:latin typeface="Aptos"/>
              </a:rPr>
              <a:t>Member_ID (PK)
Plan_ID (FK)
Trainer_ID (FK)
Membership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1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407408"/>
            <a:ext cx="1874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FBE5C"/>
                </a:solidFill>
                <a:latin typeface="Aptos"/>
              </a:rPr>
              <a:t>TRAINERS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73168"/>
            <a:ext cx="1874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2F6FA"/>
                </a:solidFill>
                <a:latin typeface="Aptos"/>
              </a:rPr>
              <a:t>Trainer_ID (PK)
Name • Phone
Specialization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423160"/>
            <a:ext cx="2834640" cy="1600200"/>
          </a:xfrm>
          <a:prstGeom prst="roundRect">
            <a:avLst>
              <a:gd name="adj" fmla="val 12000"/>
            </a:avLst>
          </a:prstGeom>
          <a:solidFill>
            <a:srgbClr val="1E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2532888"/>
            <a:ext cx="2560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39D3BE"/>
                </a:solidFill>
                <a:latin typeface="Aptos"/>
              </a:rPr>
              <a:t>PAYMENT_HISTORY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898648"/>
            <a:ext cx="25603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2F6FA"/>
                </a:solidFill>
                <a:latin typeface="Aptos"/>
              </a:rPr>
              <a:t>Payment_ID (PK)
Member_ID (FK)
Date • Amount • Status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2697480"/>
            <a:ext cx="685800" cy="0"/>
          </a:xfrm>
          <a:prstGeom prst="line">
            <a:avLst/>
          </a:prstGeom>
          <a:ln w="25400">
            <a:solidFill>
              <a:srgbClr val="39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971800" y="3657600"/>
            <a:ext cx="1234440" cy="1234440"/>
          </a:xfrm>
          <a:prstGeom prst="line">
            <a:avLst/>
          </a:prstGeom>
          <a:ln w="25400">
            <a:solidFill>
              <a:srgbClr val="39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89320" y="2743200"/>
            <a:ext cx="1417320" cy="320040"/>
          </a:xfrm>
          <a:prstGeom prst="line">
            <a:avLst/>
          </a:prstGeom>
          <a:ln w="25400">
            <a:solidFill>
              <a:srgbClr val="39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71800" y="164592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39D3BE"/>
                </a:solidFill>
                <a:latin typeface="Aptos"/>
              </a:rPr>
              <a:t>1 :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2860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39D3BE"/>
                </a:solidFill>
                <a:latin typeface="Aptos"/>
              </a:rPr>
              <a:t>1 :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54880"/>
            <a:ext cx="6949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Plans → Members: one plan can be selected by many members.
Trainers → Members: one trainer can be assigned to many members.
Members → Payment_History: one member can have multiple payment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Relational Schema &amp;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Designed to reduce repeated data and preserve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822960"/>
          </a:xfrm>
          <a:prstGeom prst="rect">
            <a:avLst/>
          </a:prstGeom>
          <a:solidFill>
            <a:srgbClr val="5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1033271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2F6FA"/>
                </a:solidFill>
                <a:latin typeface="Aptos"/>
              </a:rPr>
              <a:t>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10332719" cy="13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Plan_ID (PK), Plan_Name, Duration_Months, Price, Description, Is_Active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24328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624328"/>
            <a:ext cx="64008" cy="8229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788920"/>
            <a:ext cx="1033271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2F6FA"/>
                </a:solidFill>
                <a:latin typeface="Aptos"/>
              </a:rPr>
              <a:t>TRAINERS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91256"/>
            <a:ext cx="10332719" cy="13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Trainer_ID (PK), Trainer_Name, Phone, Email, Specialization, Is_Active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48456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648456"/>
            <a:ext cx="64008" cy="82296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813048"/>
            <a:ext cx="1033271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2F6FA"/>
                </a:solidFill>
                <a:latin typeface="Aptos"/>
              </a:rPr>
              <a:t>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15384"/>
            <a:ext cx="10332719" cy="13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Member_ID (PK), Full_Name, Phone, Email, Join_Date, Membership_Start/End, Plan_ID (FK), Trainer_ID (FK)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2584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672584"/>
            <a:ext cx="64008" cy="82296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837176"/>
            <a:ext cx="1033271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F2F6FA"/>
                </a:solidFill>
                <a:latin typeface="Aptos"/>
              </a:rPr>
              <a:t>PAYMENT_HISTORY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239512"/>
            <a:ext cx="10332719" cy="13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Payment_ID (PK), Member_ID (FK), Payment_Date, Amount, Payment_Method, Payment_Status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39D3BE"/>
                </a:solidFill>
                <a:latin typeface="Aptos"/>
              </a:rPr>
              <a:t>1NF: atomic values   •   2NF: no partial dependencies   •   3NF: non-key facts stored with their own entity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Reference SQL design uses MySQL 8.0-compatible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3383280"/>
          </a:xfrm>
          <a:prstGeom prst="rect">
            <a:avLst/>
          </a:prstGeom>
          <a:solidFill>
            <a:srgbClr val="5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DDL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3063240" cy="2697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ACBBCA"/>
                </a:solidFill>
                <a:latin typeface="Aptos"/>
              </a:rPr>
              <a:t>CREATE DATABASE
CREATE TABLE
PRIMARY KEY / FOREIGN KEY
CHECK and UNIQUE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64008" cy="338328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DML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58568"/>
            <a:ext cx="3063240" cy="2697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ACBBCA"/>
                </a:solidFill>
                <a:latin typeface="Aptos"/>
              </a:rPr>
              <a:t>INSERT sample records
UPDATE member or plan status
Use safe conditions
Avoid unnecessary hard deletes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64008" cy="338328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063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F2F6FA"/>
                </a:solidFill>
                <a:latin typeface="Aptos"/>
              </a:rPr>
              <a:t>SQL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58568"/>
            <a:ext cx="3063240" cy="2697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ACBBCA"/>
                </a:solidFill>
                <a:latin typeface="Aptos"/>
              </a:rPr>
              <a:t>JOIN member, plan and trainer
Expiry lists
Monthly paid collections
Payment history and plan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698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ACBBCA"/>
                </a:solidFill>
                <a:latin typeface="Aptos"/>
              </a:rPr>
              <a:t>Implementation note: use parameterized queries and server-side validation in a complete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Operational Queries &amp;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Examples of questions the database can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14300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4800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2F6FA"/>
                </a:solidFill>
                <a:latin typeface="Aptos"/>
              </a:rPr>
              <a:t>Membership expiry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4800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Which active memberships expire in the next 7 days?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64008" cy="1143000"/>
          </a:xfrm>
          <a:prstGeom prst="rect">
            <a:avLst/>
          </a:prstGeom>
          <a:solidFill>
            <a:srgbClr val="5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764792"/>
            <a:ext cx="4800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2F6FA"/>
                </a:solidFill>
                <a:latin typeface="Aptos"/>
              </a:rPr>
              <a:t>Expired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67128"/>
            <a:ext cx="4800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Which active records have an end date before today?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64008" cy="11430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182112"/>
            <a:ext cx="4800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2F6FA"/>
                </a:solidFill>
                <a:latin typeface="Aptos"/>
              </a:rPr>
              <a:t>Monthly collections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84448"/>
            <a:ext cx="4800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How many successful payments and how much was collected each month?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64008" cy="1143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182112"/>
            <a:ext cx="4800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2F6FA"/>
                </a:solidFill>
                <a:latin typeface="Aptos"/>
              </a:rPr>
              <a:t>Payment follow-up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584448"/>
            <a:ext cx="4800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Which payments are pending or failed?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3484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434840"/>
            <a:ext cx="64008" cy="114300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599431"/>
            <a:ext cx="4800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2F6FA"/>
                </a:solidFill>
                <a:latin typeface="Aptos"/>
              </a:rPr>
              <a:t>Trainer workload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01768"/>
            <a:ext cx="4800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How many active members are assigned to each trainer?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434840"/>
            <a:ext cx="64008" cy="1143000"/>
          </a:xfrm>
          <a:prstGeom prst="rect">
            <a:avLst/>
          </a:prstGeom>
          <a:solidFill>
            <a:srgbClr val="5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7" y="4599431"/>
            <a:ext cx="4800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2F6FA"/>
                </a:solidFill>
                <a:latin typeface="Aptos"/>
              </a:rPr>
              <a:t>Plan popularity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5001768"/>
            <a:ext cx="4800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How many members currently use each plan?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Interface Concepts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The report includes proposed layouts and a test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gym_dashboard_repor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7150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00200"/>
            <a:ext cx="4572000" cy="388620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66560" y="1600200"/>
            <a:ext cx="64008" cy="388620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67728" y="1764792"/>
            <a:ext cx="420624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2F6FA"/>
                </a:solidFill>
                <a:latin typeface="Aptos"/>
              </a:rPr>
              <a:t>TEST CASES TO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2167128"/>
            <a:ext cx="42062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ACBBCA"/>
                </a:solidFill>
                <a:latin typeface="Aptos"/>
              </a:rPr>
              <a:t>• Register and search a member
• Assign a plan and optional trainer
• Record a payment
• Check upcoming and expired memberships
• Validate duplicate contacts and invalid amounts
• Verify report totals against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FFBE5C"/>
                </a:solidFill>
                <a:latin typeface="Aptos"/>
              </a:rPr>
              <a:t>Important: the report states that test results are pending actual execution; verify against the final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2F6FA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22960" cy="50292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ACBBCA"/>
                </a:solidFill>
                <a:latin typeface="Aptos"/>
              </a:rPr>
              <a:t>A foundation that can be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ACBBC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2519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42519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8463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2F6FA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8463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ACBBCA"/>
                </a:solidFill>
                <a:latin typeface="Aptos"/>
              </a:rPr>
              <a:t>• Current plan and dates are stored on Members; full renewal history is limited
• Payments are manually recorded
• No automatic notifications or gateway integration
• Wireframes are proposed, and tests remain to be executed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251960"/>
          </a:xfrm>
          <a:prstGeom prst="roundRect">
            <a:avLst>
              <a:gd name="adj" fmla="val 12000"/>
            </a:avLst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4251960"/>
          </a:xfrm>
          <a:prstGeom prst="rect">
            <a:avLst/>
          </a:prstGeom>
          <a:solidFill>
            <a:srgbClr val="3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4632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F2F6FA"/>
                </a:solidFill>
                <a:latin typeface="Aptos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463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ACBBCA"/>
                </a:solidFill>
                <a:latin typeface="Aptos"/>
              </a:rPr>
              <a:t>• Add a Memberships table for full history
• Staff accounts, roles and audit logs
• Payment gateway integration
• Email/SMS renewal reminders with consent
• Revenue and member-growth charts
• QR attendance, exports and scheduled backups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607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39D3BE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98755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F2F6FA"/>
                </a:solidFill>
                <a:latin typeface="Aptos"/>
              </a:rPr>
              <a:t>A clearer, more consistent way to manage gym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7680960" cy="2194560"/>
          </a:xfrm>
          <a:prstGeom prst="rect">
            <a:avLst/>
          </a:prstGeom>
          <a:noFill/>
        </p:spPr>
        <p:txBody>
          <a:bodyPr wrap="square" lIns="18288" tIns="27432" rIns="27432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 Centralizes members, plans, trainers and payments.</a:t>
            </a:r>
          </a:p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 Uses relational keys and normalization to reduce duplication.</a:t>
            </a:r>
          </a:p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 Supports expiry tracking, payment follow-up and reporting.</a:t>
            </a:r>
          </a:p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 Provides a practical starting point for a complete gym administration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9875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ACBBCA"/>
                </a:solidFill>
                <a:latin typeface="Aptos"/>
              </a:rPr>
              <a:t>Gym Membership Tracker  |  Database Management System  |  2026–2027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A347-2D6F-5D5A-7C14-954137D3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026" y="2772031"/>
            <a:ext cx="8229600" cy="1143000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749534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993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DC</dc:creator>
  <cp:keywords/>
  <dc:description>generated using python-pptx</dc:description>
  <cp:lastModifiedBy>parth.sandip2006@gmail.com</cp:lastModifiedBy>
  <cp:revision>3</cp:revision>
  <dcterms:created xsi:type="dcterms:W3CDTF">2013-01-27T09:14:16Z</dcterms:created>
  <dcterms:modified xsi:type="dcterms:W3CDTF">2026-10-26T17:50:07Z</dcterms:modified>
  <cp:category/>
</cp:coreProperties>
</file>